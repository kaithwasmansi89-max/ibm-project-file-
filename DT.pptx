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7" r:id="rId9"/>
    <p:sldId id="268" r:id="rId10"/>
    <p:sldId id="262" r:id="rId11"/>
    <p:sldId id="264"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58E16-1706-23E6-66F7-BE7D666840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0627A2-A70B-8DA6-33D1-E331C0A605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2ABF6EF-AC17-80EB-D1F9-F032FE9448D8}"/>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5" name="Footer Placeholder 4">
            <a:extLst>
              <a:ext uri="{FF2B5EF4-FFF2-40B4-BE49-F238E27FC236}">
                <a16:creationId xmlns:a16="http://schemas.microsoft.com/office/drawing/2014/main" id="{290C70EA-C717-FB87-7F17-C0C91FD112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D44CB9-5DA9-6DC5-B85A-D3DEAB4FA743}"/>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23652655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0C40-1B0D-DE34-051B-82545ADCBB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35F92F-4D10-30AE-8F99-8EA5B77B6F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04F57F-FDFE-0C55-D424-57A8835FF25B}"/>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5" name="Footer Placeholder 4">
            <a:extLst>
              <a:ext uri="{FF2B5EF4-FFF2-40B4-BE49-F238E27FC236}">
                <a16:creationId xmlns:a16="http://schemas.microsoft.com/office/drawing/2014/main" id="{5A14DAC8-F7AA-C295-92E9-72AA2D6066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B93DBE-FAAD-FCD9-CB91-C764011AD210}"/>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25573140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25B4F-C443-5E0B-2CE5-CD1F263FF2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528816-7C5A-7450-8FC9-1CCADF18C0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EF41D9-7383-96F2-6555-024A5B042FB7}"/>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5" name="Footer Placeholder 4">
            <a:extLst>
              <a:ext uri="{FF2B5EF4-FFF2-40B4-BE49-F238E27FC236}">
                <a16:creationId xmlns:a16="http://schemas.microsoft.com/office/drawing/2014/main" id="{E998058F-252F-EEDF-A1E5-9BFC5C357B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64BCAE-B0C7-C439-FDAA-00B00DF2A9DA}"/>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39528213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0E0D-6819-6D4A-E186-7D245A9C9A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B69AFD-E6E8-E452-16FE-799B7C8608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EBFFBE-2386-A3C0-D0FA-A99211DA6E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A44476-EC28-6E98-4AB0-F7BBC05C4A98}"/>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6" name="Footer Placeholder 5">
            <a:extLst>
              <a:ext uri="{FF2B5EF4-FFF2-40B4-BE49-F238E27FC236}">
                <a16:creationId xmlns:a16="http://schemas.microsoft.com/office/drawing/2014/main" id="{055523B9-60A7-0C22-9028-3C20161F23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68AD7F-2A3B-ACFF-756C-89CCF6F265AE}"/>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13401352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102E2-290E-C5DE-57A9-AB5C5CCA2DC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AB8A8E-3AF2-2540-64FD-D5EFA63660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C17249-6685-78DA-01B0-602D710DAE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AFA947-D7E8-0EFF-C450-CE3D8841E1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34B086-B3EC-76ED-B127-142DFD01F4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36F55F-431D-2A1C-8838-753519DBBFB2}"/>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8" name="Footer Placeholder 7">
            <a:extLst>
              <a:ext uri="{FF2B5EF4-FFF2-40B4-BE49-F238E27FC236}">
                <a16:creationId xmlns:a16="http://schemas.microsoft.com/office/drawing/2014/main" id="{1653E72E-5A89-ECB3-451F-F0CC5B2743E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91600D-5C90-71FF-F590-37B65289DF38}"/>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25286207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E239B-830E-8AD4-0455-5D87ABE462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A58A45-4922-A40A-1DB3-B18FA983205F}"/>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4" name="Footer Placeholder 3">
            <a:extLst>
              <a:ext uri="{FF2B5EF4-FFF2-40B4-BE49-F238E27FC236}">
                <a16:creationId xmlns:a16="http://schemas.microsoft.com/office/drawing/2014/main" id="{87D53F1C-2C07-26CC-DA21-041891FC84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FF6F98-13BE-E7A7-8668-24903FAC871D}"/>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24559336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8A66F0-B0FF-6CC4-1768-6E6974299877}"/>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3" name="Footer Placeholder 2">
            <a:extLst>
              <a:ext uri="{FF2B5EF4-FFF2-40B4-BE49-F238E27FC236}">
                <a16:creationId xmlns:a16="http://schemas.microsoft.com/office/drawing/2014/main" id="{E4C41986-BEC7-EB39-B55D-55BB7D54ED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15D47B-7B57-B466-BBA3-E30F76474F1A}"/>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16367129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F52F9-72EB-A4EA-C754-8B0D12D7B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BD8C1D-2FD5-9989-22BF-12EDBF31CA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51695F-4FE6-6CDD-383C-DA770D2F54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60A70C-208C-4488-3511-708EC72B32BB}"/>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6" name="Footer Placeholder 5">
            <a:extLst>
              <a:ext uri="{FF2B5EF4-FFF2-40B4-BE49-F238E27FC236}">
                <a16:creationId xmlns:a16="http://schemas.microsoft.com/office/drawing/2014/main" id="{4962D6A2-E1BF-F1BD-EA6C-6F9C6E0E52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4AE0FA-E38A-ED3B-7C54-E663AD2B9827}"/>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26457708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2F932-0C68-B796-0245-300CF17D3A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E4112A-A5F8-07EB-1DC6-35962AACFF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649C20-393C-6E2D-F4D2-C0C6E5721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4BA91C-8439-4657-E99F-842760CC62F5}"/>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6" name="Footer Placeholder 5">
            <a:extLst>
              <a:ext uri="{FF2B5EF4-FFF2-40B4-BE49-F238E27FC236}">
                <a16:creationId xmlns:a16="http://schemas.microsoft.com/office/drawing/2014/main" id="{E6277A08-0794-09C8-8238-FE7347DD2E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723CE6-9CFF-0576-8777-0F333929FDB1}"/>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38109619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FD4B3-06B0-DDA8-8A3D-1EC4CDA89A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DE7086-B99E-A169-750F-9AC7E1B0B8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9948B8-0A97-441D-8F2B-CDC5E3B8EFB3}"/>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5" name="Footer Placeholder 4">
            <a:extLst>
              <a:ext uri="{FF2B5EF4-FFF2-40B4-BE49-F238E27FC236}">
                <a16:creationId xmlns:a16="http://schemas.microsoft.com/office/drawing/2014/main" id="{52BF649B-54B9-325E-6FE3-CE475BC5FE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F59206-F152-04B3-67AB-8B8BCB9FABAE}"/>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22745280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8B7895-0E4A-1ACC-3D71-F1881F6AD1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D047F9-D757-C1CB-6096-3D8169EDE4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BB2136-A961-4BBB-09DB-9E1E6BFD1ED4}"/>
              </a:ext>
            </a:extLst>
          </p:cNvPr>
          <p:cNvSpPr>
            <a:spLocks noGrp="1"/>
          </p:cNvSpPr>
          <p:nvPr>
            <p:ph type="dt" sz="half" idx="10"/>
          </p:nvPr>
        </p:nvSpPr>
        <p:spPr/>
        <p:txBody>
          <a:bodyPr/>
          <a:lstStyle/>
          <a:p>
            <a:fld id="{AB16B4B1-73EE-4666-B106-975AF31A8C4C}" type="datetimeFigureOut">
              <a:rPr lang="en-IN" smtClean="0"/>
              <a:t>01-12-2025</a:t>
            </a:fld>
            <a:endParaRPr lang="en-IN"/>
          </a:p>
        </p:txBody>
      </p:sp>
      <p:sp>
        <p:nvSpPr>
          <p:cNvPr id="5" name="Footer Placeholder 4">
            <a:extLst>
              <a:ext uri="{FF2B5EF4-FFF2-40B4-BE49-F238E27FC236}">
                <a16:creationId xmlns:a16="http://schemas.microsoft.com/office/drawing/2014/main" id="{10DD32BA-0305-E965-52AE-1BFEDB7415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079514-1AA9-421C-E2CC-BD68CB2A1977}"/>
              </a:ext>
            </a:extLst>
          </p:cNvPr>
          <p:cNvSpPr>
            <a:spLocks noGrp="1"/>
          </p:cNvSpPr>
          <p:nvPr>
            <p:ph type="sldNum" sz="quarter" idx="12"/>
          </p:nvPr>
        </p:nvSpPr>
        <p:spPr/>
        <p:txBody>
          <a:bodyPr/>
          <a:lstStyle/>
          <a:p>
            <a:fld id="{F8B06F29-4936-45FA-872D-8D43EDF56792}" type="slidenum">
              <a:rPr lang="en-IN" smtClean="0"/>
              <a:t>‹#›</a:t>
            </a:fld>
            <a:endParaRPr lang="en-IN"/>
          </a:p>
        </p:txBody>
      </p:sp>
    </p:spTree>
    <p:extLst>
      <p:ext uri="{BB962C8B-B14F-4D97-AF65-F5344CB8AC3E}">
        <p14:creationId xmlns:p14="http://schemas.microsoft.com/office/powerpoint/2010/main" val="1662754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B7D145-FEC6-2840-5675-5A67A00DA8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61A01E-EA40-68E0-A66D-32726F0A9F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CD719C-C354-1652-289C-642590A578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16B4B1-73EE-4666-B106-975AF31A8C4C}" type="datetimeFigureOut">
              <a:rPr lang="en-IN" smtClean="0"/>
              <a:t>01-12-2025</a:t>
            </a:fld>
            <a:endParaRPr lang="en-IN"/>
          </a:p>
        </p:txBody>
      </p:sp>
      <p:sp>
        <p:nvSpPr>
          <p:cNvPr id="5" name="Footer Placeholder 4">
            <a:extLst>
              <a:ext uri="{FF2B5EF4-FFF2-40B4-BE49-F238E27FC236}">
                <a16:creationId xmlns:a16="http://schemas.microsoft.com/office/drawing/2014/main" id="{616E2C2E-6345-6B2F-F79D-E86AD6ADB0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BEFA9B-2025-AEB7-05C6-5078EF3E82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B06F29-4936-45FA-872D-8D43EDF56792}" type="slidenum">
              <a:rPr lang="en-IN" smtClean="0"/>
              <a:t>‹#›</a:t>
            </a:fld>
            <a:endParaRPr lang="en-IN"/>
          </a:p>
        </p:txBody>
      </p:sp>
    </p:spTree>
    <p:extLst>
      <p:ext uri="{BB962C8B-B14F-4D97-AF65-F5344CB8AC3E}">
        <p14:creationId xmlns:p14="http://schemas.microsoft.com/office/powerpoint/2010/main" val="1762983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image" Target="../media/image9.jpeg" /><Relationship Id="rId1" Type="http://schemas.openxmlformats.org/officeDocument/2006/relationships/slideLayout" Target="../slideLayouts/slideLayout2.xml" /><Relationship Id="rId4" Type="http://schemas.openxmlformats.org/officeDocument/2006/relationships/image" Target="../media/image11.jpeg" /></Relationships>
</file>

<file path=ppt/slides/_rels/slide8.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6B00FC4-C5A9-FA3A-B2B0-13BEAA96C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3280"/>
            <a:ext cx="12310171" cy="6924471"/>
          </a:xfrm>
          <a:prstGeom prst="rect">
            <a:avLst/>
          </a:prstGeom>
        </p:spPr>
      </p:pic>
      <p:sp>
        <p:nvSpPr>
          <p:cNvPr id="6" name="TextBox 5">
            <a:extLst>
              <a:ext uri="{FF2B5EF4-FFF2-40B4-BE49-F238E27FC236}">
                <a16:creationId xmlns:a16="http://schemas.microsoft.com/office/drawing/2014/main" id="{C2CBD7B6-532A-ECB0-1987-0F3ACF0299C0}"/>
              </a:ext>
            </a:extLst>
          </p:cNvPr>
          <p:cNvSpPr txBox="1"/>
          <p:nvPr/>
        </p:nvSpPr>
        <p:spPr>
          <a:xfrm>
            <a:off x="2170181" y="1840961"/>
            <a:ext cx="7991098" cy="1569660"/>
          </a:xfrm>
          <a:prstGeom prst="rect">
            <a:avLst/>
          </a:prstGeom>
          <a:noFill/>
        </p:spPr>
        <p:txBody>
          <a:bodyPr wrap="none" rtlCol="0">
            <a:spAutoFit/>
          </a:bodyPr>
          <a:lstStyle/>
          <a:p>
            <a:r>
              <a:rPr lang="en-US" sz="4800" b="1" dirty="0"/>
              <a:t> DESIGNING SOLUTIONS WITH </a:t>
            </a:r>
          </a:p>
          <a:p>
            <a:r>
              <a:rPr lang="en-US" sz="4800" b="1" dirty="0"/>
              <a:t>          MURAL TEMPLATE</a:t>
            </a:r>
            <a:endParaRPr lang="en-IN" sz="4800" b="1" dirty="0"/>
          </a:p>
        </p:txBody>
      </p:sp>
      <p:sp>
        <p:nvSpPr>
          <p:cNvPr id="7" name="TextBox 6">
            <a:extLst>
              <a:ext uri="{FF2B5EF4-FFF2-40B4-BE49-F238E27FC236}">
                <a16:creationId xmlns:a16="http://schemas.microsoft.com/office/drawing/2014/main" id="{8F135A9F-63F3-A378-F6EE-6FAB102CDC77}"/>
              </a:ext>
            </a:extLst>
          </p:cNvPr>
          <p:cNvSpPr txBox="1"/>
          <p:nvPr/>
        </p:nvSpPr>
        <p:spPr>
          <a:xfrm>
            <a:off x="722644" y="4793962"/>
            <a:ext cx="3204212" cy="1938992"/>
          </a:xfrm>
          <a:prstGeom prst="rect">
            <a:avLst/>
          </a:prstGeom>
          <a:noFill/>
        </p:spPr>
        <p:txBody>
          <a:bodyPr wrap="square" rtlCol="0">
            <a:spAutoFit/>
          </a:bodyPr>
          <a:lstStyle/>
          <a:p>
            <a:r>
              <a:rPr lang="en-US" sz="2400" b="1" dirty="0"/>
              <a:t>    </a:t>
            </a:r>
            <a:r>
              <a:rPr lang="en-US" sz="2400" b="1" u="sng" dirty="0"/>
              <a:t>Submitted by</a:t>
            </a:r>
            <a:r>
              <a:rPr lang="en-US" sz="2400" b="1" dirty="0"/>
              <a:t>:-</a:t>
            </a:r>
          </a:p>
          <a:p>
            <a:pPr marL="342900" indent="-342900">
              <a:buAutoNum type="arabicPeriod"/>
            </a:pPr>
            <a:r>
              <a:rPr lang="en-US" sz="2400" b="1" dirty="0"/>
              <a:t>AYUSHI SINGH</a:t>
            </a:r>
          </a:p>
          <a:p>
            <a:pPr marL="342900" indent="-342900">
              <a:buAutoNum type="arabicPeriod"/>
            </a:pPr>
            <a:r>
              <a:rPr lang="en-US" sz="2400" b="1" dirty="0"/>
              <a:t>MANSI KAITHWAS </a:t>
            </a:r>
          </a:p>
          <a:p>
            <a:pPr marL="342900" indent="-342900">
              <a:buAutoNum type="arabicPeriod"/>
            </a:pPr>
            <a:r>
              <a:rPr lang="en-US" sz="2400" b="1" dirty="0"/>
              <a:t>SOMYA VERMA</a:t>
            </a:r>
          </a:p>
          <a:p>
            <a:r>
              <a:rPr lang="en-US" sz="2400" b="1" dirty="0"/>
              <a:t>     [BA-IBM] III-C </a:t>
            </a:r>
          </a:p>
        </p:txBody>
      </p:sp>
      <p:sp>
        <p:nvSpPr>
          <p:cNvPr id="4" name="TextBox 3">
            <a:extLst>
              <a:ext uri="{FF2B5EF4-FFF2-40B4-BE49-F238E27FC236}">
                <a16:creationId xmlns:a16="http://schemas.microsoft.com/office/drawing/2014/main" id="{60E7202A-CFDE-3A9B-33E2-CFC23EBA6BC9}"/>
              </a:ext>
            </a:extLst>
          </p:cNvPr>
          <p:cNvSpPr txBox="1"/>
          <p:nvPr/>
        </p:nvSpPr>
        <p:spPr>
          <a:xfrm>
            <a:off x="2756056" y="3515517"/>
            <a:ext cx="7420330" cy="584775"/>
          </a:xfrm>
          <a:prstGeom prst="rect">
            <a:avLst/>
          </a:prstGeom>
          <a:noFill/>
        </p:spPr>
        <p:txBody>
          <a:bodyPr wrap="square" rtlCol="0">
            <a:spAutoFit/>
          </a:bodyPr>
          <a:lstStyle/>
          <a:p>
            <a:pPr algn="l"/>
            <a:r>
              <a:rPr lang="en-US" sz="3200" b="1" u="sng" dirty="0"/>
              <a:t>Topic</a:t>
            </a:r>
            <a:r>
              <a:rPr lang="en-US" sz="3200" b="1" dirty="0"/>
              <a:t>:- </a:t>
            </a:r>
            <a:r>
              <a:rPr lang="en-US" sz="3200" b="1" u="sng" dirty="0"/>
              <a:t> Booking Local Service Providers</a:t>
            </a:r>
            <a:r>
              <a:rPr lang="en-US" sz="3200" b="1" dirty="0"/>
              <a:t> </a:t>
            </a:r>
          </a:p>
        </p:txBody>
      </p:sp>
      <p:sp>
        <p:nvSpPr>
          <p:cNvPr id="9" name="TextBox 8">
            <a:extLst>
              <a:ext uri="{FF2B5EF4-FFF2-40B4-BE49-F238E27FC236}">
                <a16:creationId xmlns:a16="http://schemas.microsoft.com/office/drawing/2014/main" id="{6A934CED-22C4-170C-1F9D-286F4AE7B46B}"/>
              </a:ext>
            </a:extLst>
          </p:cNvPr>
          <p:cNvSpPr txBox="1"/>
          <p:nvPr/>
        </p:nvSpPr>
        <p:spPr>
          <a:xfrm>
            <a:off x="8466165" y="4793962"/>
            <a:ext cx="3420443" cy="830997"/>
          </a:xfrm>
          <a:prstGeom prst="rect">
            <a:avLst/>
          </a:prstGeom>
          <a:noFill/>
        </p:spPr>
        <p:txBody>
          <a:bodyPr wrap="square" rtlCol="0">
            <a:spAutoFit/>
          </a:bodyPr>
          <a:lstStyle/>
          <a:p>
            <a:pPr algn="l"/>
            <a:r>
              <a:rPr lang="en-US" sz="2400" b="1" dirty="0"/>
              <a:t>      </a:t>
            </a:r>
            <a:r>
              <a:rPr lang="en-US" sz="2400" b="1" u="sng" dirty="0"/>
              <a:t>Submitted to</a:t>
            </a:r>
            <a:r>
              <a:rPr lang="en-US" sz="2400" b="1" dirty="0"/>
              <a:t>:-</a:t>
            </a:r>
          </a:p>
          <a:p>
            <a:pPr algn="l"/>
            <a:r>
              <a:rPr lang="en-US" sz="2400" b="1" dirty="0"/>
              <a:t>Mr. Lokesh Pal Arya</a:t>
            </a:r>
          </a:p>
        </p:txBody>
      </p:sp>
      <p:pic>
        <p:nvPicPr>
          <p:cNvPr id="10" name="Picture 9">
            <a:extLst>
              <a:ext uri="{FF2B5EF4-FFF2-40B4-BE49-F238E27FC236}">
                <a16:creationId xmlns:a16="http://schemas.microsoft.com/office/drawing/2014/main" id="{519F97FF-6DA9-29D5-EC15-460EFCC99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6303" y="226783"/>
            <a:ext cx="5697562" cy="120412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56785502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9DB20FF-DE3C-50EA-77C0-A50B1F2428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704"/>
            <a:ext cx="12192000" cy="6858000"/>
          </a:xfrm>
          <a:prstGeom prst="rect">
            <a:avLst/>
          </a:prstGeom>
        </p:spPr>
      </p:pic>
      <p:sp>
        <p:nvSpPr>
          <p:cNvPr id="5" name="TextBox 4">
            <a:extLst>
              <a:ext uri="{FF2B5EF4-FFF2-40B4-BE49-F238E27FC236}">
                <a16:creationId xmlns:a16="http://schemas.microsoft.com/office/drawing/2014/main" id="{5EE685F4-3BDD-E893-3EE8-E6FDB0D0196E}"/>
              </a:ext>
            </a:extLst>
          </p:cNvPr>
          <p:cNvSpPr txBox="1"/>
          <p:nvPr/>
        </p:nvSpPr>
        <p:spPr>
          <a:xfrm>
            <a:off x="4178710" y="320020"/>
            <a:ext cx="3383106" cy="707886"/>
          </a:xfrm>
          <a:prstGeom prst="rect">
            <a:avLst/>
          </a:prstGeom>
          <a:noFill/>
        </p:spPr>
        <p:txBody>
          <a:bodyPr wrap="square" rtlCol="0">
            <a:spAutoFit/>
          </a:bodyPr>
          <a:lstStyle/>
          <a:p>
            <a:r>
              <a:rPr lang="en-US" sz="4000" b="1" dirty="0"/>
              <a:t>EMPATHY MAP</a:t>
            </a:r>
            <a:endParaRPr lang="en-IN" sz="4000" b="1" dirty="0"/>
          </a:p>
        </p:txBody>
      </p:sp>
      <p:sp>
        <p:nvSpPr>
          <p:cNvPr id="7" name="TextBox 6">
            <a:extLst>
              <a:ext uri="{FF2B5EF4-FFF2-40B4-BE49-F238E27FC236}">
                <a16:creationId xmlns:a16="http://schemas.microsoft.com/office/drawing/2014/main" id="{B7373605-25A4-89BB-87B3-5781A3CC1FCA}"/>
              </a:ext>
            </a:extLst>
          </p:cNvPr>
          <p:cNvSpPr txBox="1"/>
          <p:nvPr/>
        </p:nvSpPr>
        <p:spPr>
          <a:xfrm>
            <a:off x="201561" y="1604689"/>
            <a:ext cx="11788877" cy="1200329"/>
          </a:xfrm>
          <a:prstGeom prst="rect">
            <a:avLst/>
          </a:prstGeom>
          <a:noFill/>
        </p:spPr>
        <p:txBody>
          <a:bodyPr wrap="square" rtlCol="0">
            <a:spAutoFit/>
          </a:bodyPr>
          <a:lstStyle/>
          <a:p>
            <a:r>
              <a:rPr lang="en-US" dirty="0"/>
              <a:t>• An </a:t>
            </a:r>
            <a:r>
              <a:rPr lang="en-US" b="1" dirty="0"/>
              <a:t>Empathy</a:t>
            </a:r>
            <a:r>
              <a:rPr lang="en-US" dirty="0"/>
              <a:t> </a:t>
            </a:r>
            <a:r>
              <a:rPr lang="en-US" b="1" dirty="0"/>
              <a:t>Map</a:t>
            </a:r>
            <a:r>
              <a:rPr lang="en-US" dirty="0"/>
              <a:t> in Mural is a visual collaboration tool used to understand your users or customers more deeply — what they say, think, feel, and do about a product, service, or situation. It helps teams step into the user’s shoes and uncover their needs, pain points, motivations, and emotions. In Mural, this is represented using a pre-designed template divided into sections you fill with digital sticky notes.</a:t>
            </a:r>
            <a:endParaRPr lang="en-IN" dirty="0"/>
          </a:p>
        </p:txBody>
      </p:sp>
      <p:sp>
        <p:nvSpPr>
          <p:cNvPr id="8" name="TextBox 7">
            <a:extLst>
              <a:ext uri="{FF2B5EF4-FFF2-40B4-BE49-F238E27FC236}">
                <a16:creationId xmlns:a16="http://schemas.microsoft.com/office/drawing/2014/main" id="{E667528F-DBA1-0701-AC0F-B82C915D4FC0}"/>
              </a:ext>
            </a:extLst>
          </p:cNvPr>
          <p:cNvSpPr txBox="1"/>
          <p:nvPr/>
        </p:nvSpPr>
        <p:spPr>
          <a:xfrm>
            <a:off x="201561" y="2805018"/>
            <a:ext cx="11493260" cy="2585323"/>
          </a:xfrm>
          <a:prstGeom prst="rect">
            <a:avLst/>
          </a:prstGeom>
          <a:noFill/>
        </p:spPr>
        <p:txBody>
          <a:bodyPr wrap="square" rtlCol="0">
            <a:spAutoFit/>
          </a:bodyPr>
          <a:lstStyle/>
          <a:p>
            <a:r>
              <a:rPr lang="en-US" dirty="0"/>
              <a:t>• The Four Quadrants of Mural Empathy Map</a:t>
            </a:r>
            <a:r>
              <a:rPr lang="en-US" b="1" dirty="0"/>
              <a:t>:-</a:t>
            </a:r>
          </a:p>
          <a:p>
            <a:endParaRPr lang="en-US" dirty="0"/>
          </a:p>
          <a:p>
            <a:r>
              <a:rPr lang="en-US" b="1" dirty="0"/>
              <a:t>1.SAYS: What</a:t>
            </a:r>
            <a:r>
              <a:rPr lang="en-US" dirty="0"/>
              <a:t> the user says out loud quotes, feedback, or comments. Example: "I hate waiting for service confirmation.“</a:t>
            </a:r>
          </a:p>
          <a:p>
            <a:r>
              <a:rPr lang="en-US" b="1" dirty="0"/>
              <a:t>2.THINKS: </a:t>
            </a:r>
            <a:r>
              <a:rPr lang="en-US" dirty="0"/>
              <a:t>What the user is thinking but might not say directly - their worries, motivations, or desires. Example: "Can I trust this app with my personal info?“</a:t>
            </a:r>
          </a:p>
          <a:p>
            <a:r>
              <a:rPr lang="en-US" b="1" dirty="0"/>
              <a:t>3.DOES: The</a:t>
            </a:r>
            <a:r>
              <a:rPr lang="en-US" dirty="0"/>
              <a:t> actions or behaviors of the user how they currently solve their problem. Example: Calls multiple providers or searches on Google.</a:t>
            </a:r>
          </a:p>
          <a:p>
            <a:r>
              <a:rPr lang="en-US" b="1" dirty="0"/>
              <a:t>4.FEELS: The</a:t>
            </a:r>
            <a:r>
              <a:rPr lang="en-US" dirty="0"/>
              <a:t> user's emotions ,frustrations, fears, joys, or hopes. Example: Feels stressed when services are delayed; relieved when it's quick and easy.</a:t>
            </a:r>
            <a:endParaRPr lang="en-IN" dirty="0"/>
          </a:p>
        </p:txBody>
      </p:sp>
    </p:spTree>
    <p:extLst>
      <p:ext uri="{BB962C8B-B14F-4D97-AF65-F5344CB8AC3E}">
        <p14:creationId xmlns:p14="http://schemas.microsoft.com/office/powerpoint/2010/main" val="4068272404"/>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0F256E-8DDA-8350-C92B-9A8761DD6E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4486E14A-370D-DC81-ECA0-FA5BF7A94B86}"/>
              </a:ext>
            </a:extLst>
          </p:cNvPr>
          <p:cNvSpPr txBox="1"/>
          <p:nvPr/>
        </p:nvSpPr>
        <p:spPr>
          <a:xfrm>
            <a:off x="265471" y="56137"/>
            <a:ext cx="7742309" cy="2092881"/>
          </a:xfrm>
          <a:prstGeom prst="rect">
            <a:avLst/>
          </a:prstGeom>
          <a:noFill/>
        </p:spPr>
        <p:txBody>
          <a:bodyPr wrap="square" rtlCol="0">
            <a:spAutoFit/>
          </a:bodyPr>
          <a:lstStyle/>
          <a:p>
            <a:r>
              <a:rPr lang="en-US" sz="4000" b="1" dirty="0"/>
              <a:t>Aim:-</a:t>
            </a:r>
          </a:p>
          <a:p>
            <a:r>
              <a:rPr lang="en-US" dirty="0"/>
              <a:t>The main aim of creating an Empathy Map in Mural is to:</a:t>
            </a:r>
          </a:p>
          <a:p>
            <a:pPr marL="285750" indent="-285750">
              <a:buFont typeface="Arial" panose="020B0604020202020204" pitchFamily="34" charset="0"/>
              <a:buChar char="•"/>
            </a:pPr>
            <a:r>
              <a:rPr lang="en-US" dirty="0"/>
              <a:t>Build empathy for your users</a:t>
            </a:r>
          </a:p>
          <a:p>
            <a:pPr marL="285750" indent="-285750">
              <a:buFont typeface="Arial" panose="020B0604020202020204" pitchFamily="34" charset="0"/>
              <a:buChar char="•"/>
            </a:pPr>
            <a:r>
              <a:rPr lang="en-US" dirty="0"/>
              <a:t>Discover real problems before designing solutions</a:t>
            </a:r>
          </a:p>
          <a:p>
            <a:pPr marL="285750" indent="-285750">
              <a:buFont typeface="Arial" panose="020B0604020202020204" pitchFamily="34" charset="0"/>
              <a:buChar char="•"/>
            </a:pPr>
            <a:r>
              <a:rPr lang="en-US" dirty="0"/>
              <a:t>Align your team's understanding of the target user</a:t>
            </a:r>
          </a:p>
          <a:p>
            <a:pPr marL="285750" indent="-285750">
              <a:buFont typeface="Arial" panose="020B0604020202020204" pitchFamily="34" charset="0"/>
              <a:buChar char="•"/>
            </a:pPr>
            <a:r>
              <a:rPr lang="en-US" dirty="0"/>
              <a:t>Generate human-centered ideas for product or service improvement</a:t>
            </a:r>
            <a:endParaRPr lang="en-IN" dirty="0"/>
          </a:p>
        </p:txBody>
      </p:sp>
      <p:sp>
        <p:nvSpPr>
          <p:cNvPr id="7" name="TextBox 6">
            <a:extLst>
              <a:ext uri="{FF2B5EF4-FFF2-40B4-BE49-F238E27FC236}">
                <a16:creationId xmlns:a16="http://schemas.microsoft.com/office/drawing/2014/main" id="{62B6C103-1606-3068-006F-5E2B348A2901}"/>
              </a:ext>
            </a:extLst>
          </p:cNvPr>
          <p:cNvSpPr txBox="1"/>
          <p:nvPr/>
        </p:nvSpPr>
        <p:spPr>
          <a:xfrm>
            <a:off x="163102" y="1999676"/>
            <a:ext cx="11779044" cy="646331"/>
          </a:xfrm>
          <a:prstGeom prst="rect">
            <a:avLst/>
          </a:prstGeom>
          <a:noFill/>
        </p:spPr>
        <p:txBody>
          <a:bodyPr wrap="square" rtlCol="0">
            <a:spAutoFit/>
          </a:bodyPr>
          <a:lstStyle/>
          <a:p>
            <a:r>
              <a:rPr lang="en-US" dirty="0"/>
              <a:t>Here the aim is to develop an easy-to-use mobile app that allows users to book local service providers (like electricians, plumbers, cleaners, tutors, etc.) quickly, safely, and affordably within their city.</a:t>
            </a:r>
            <a:endParaRPr lang="en-IN" dirty="0"/>
          </a:p>
        </p:txBody>
      </p:sp>
      <p:sp>
        <p:nvSpPr>
          <p:cNvPr id="8" name="TextBox 7">
            <a:extLst>
              <a:ext uri="{FF2B5EF4-FFF2-40B4-BE49-F238E27FC236}">
                <a16:creationId xmlns:a16="http://schemas.microsoft.com/office/drawing/2014/main" id="{2BAA2BA0-A11F-2C0C-17BA-F93E17EFA728}"/>
              </a:ext>
            </a:extLst>
          </p:cNvPr>
          <p:cNvSpPr txBox="1"/>
          <p:nvPr/>
        </p:nvSpPr>
        <p:spPr>
          <a:xfrm>
            <a:off x="163102" y="2646007"/>
            <a:ext cx="11534965" cy="3785652"/>
          </a:xfrm>
          <a:prstGeom prst="rect">
            <a:avLst/>
          </a:prstGeom>
          <a:noFill/>
        </p:spPr>
        <p:txBody>
          <a:bodyPr wrap="square" rtlCol="0">
            <a:spAutoFit/>
          </a:bodyPr>
          <a:lstStyle/>
          <a:p>
            <a:r>
              <a:rPr lang="en-US" sz="2400" b="1" dirty="0"/>
              <a:t>Steps to Create an Empathy Map :-</a:t>
            </a:r>
          </a:p>
          <a:p>
            <a:r>
              <a:rPr lang="en-US" b="1" dirty="0"/>
              <a:t>• Step 1</a:t>
            </a:r>
            <a:r>
              <a:rPr lang="en-US" dirty="0"/>
              <a:t>: Define the Goal or Objective. Identify why you're creating the empathy map.</a:t>
            </a:r>
          </a:p>
          <a:p>
            <a:r>
              <a:rPr lang="en-US" b="1" dirty="0"/>
              <a:t>• Step</a:t>
            </a:r>
            <a:r>
              <a:rPr lang="en-US" dirty="0"/>
              <a:t> </a:t>
            </a:r>
            <a:r>
              <a:rPr lang="en-US" b="1" dirty="0"/>
              <a:t>2</a:t>
            </a:r>
            <a:r>
              <a:rPr lang="en-US" dirty="0"/>
              <a:t>: Identify Your Target User (Persona)Choose a specific user type or customer segment you want to understand. Give them a name, age, role, and background.</a:t>
            </a:r>
          </a:p>
          <a:p>
            <a:r>
              <a:rPr lang="en-US" b="1" dirty="0"/>
              <a:t>• Step 3</a:t>
            </a:r>
            <a:r>
              <a:rPr lang="en-US" dirty="0"/>
              <a:t>: Gather User Data.Collect information from: User interviews Surveys or feedback forms. Observation or user journey analysis. Use real quotes and behaviors, not assumptions, whenever possible.</a:t>
            </a:r>
          </a:p>
          <a:p>
            <a:r>
              <a:rPr lang="en-US" b="1" dirty="0"/>
              <a:t>• Step</a:t>
            </a:r>
            <a:r>
              <a:rPr lang="en-US" dirty="0"/>
              <a:t> </a:t>
            </a:r>
            <a:r>
              <a:rPr lang="en-US" b="1" dirty="0"/>
              <a:t>4</a:t>
            </a:r>
            <a:r>
              <a:rPr lang="en-US" dirty="0"/>
              <a:t>: Create the Empathy Map Layout.Draw or open the Mural Empathy Map Template. Divide it into four main sections: SAYS What the user says aloud, THINKS - What goes on in their mind, DOES - What actions they take, FEELS - How they feel emotionally</a:t>
            </a:r>
          </a:p>
          <a:p>
            <a:r>
              <a:rPr lang="en-US" b="1" dirty="0"/>
              <a:t>• Step 5</a:t>
            </a:r>
            <a:r>
              <a:rPr lang="en-US" dirty="0"/>
              <a:t>: Fill Each Section. Use sticky notes (in Mural) or handwritten notes for each area.</a:t>
            </a:r>
          </a:p>
          <a:p>
            <a:r>
              <a:rPr lang="en-US" b="1" dirty="0"/>
              <a:t>• Step</a:t>
            </a:r>
            <a:r>
              <a:rPr lang="en-US" dirty="0"/>
              <a:t> </a:t>
            </a:r>
            <a:r>
              <a:rPr lang="en-US" b="1" dirty="0"/>
              <a:t>6</a:t>
            </a:r>
            <a:r>
              <a:rPr lang="en-US" dirty="0"/>
              <a:t>: Identify Patterns and Insights. Review all the notes.Group similar ideas (e.g., trust issues, time-saving needs).Highlight main pain points and user desires.</a:t>
            </a:r>
          </a:p>
          <a:p>
            <a:r>
              <a:rPr lang="en-US" b="1" dirty="0"/>
              <a:t>• Step 7</a:t>
            </a:r>
            <a:r>
              <a:rPr lang="en-US" dirty="0"/>
              <a:t>: Derive Opportunities or Solutions. Turn insights into actionable ideas.</a:t>
            </a:r>
            <a:endParaRPr lang="en-IN" dirty="0"/>
          </a:p>
        </p:txBody>
      </p:sp>
    </p:spTree>
    <p:extLst>
      <p:ext uri="{BB962C8B-B14F-4D97-AF65-F5344CB8AC3E}">
        <p14:creationId xmlns:p14="http://schemas.microsoft.com/office/powerpoint/2010/main" val="2756599568"/>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B7A19E-678F-F0C4-1B12-2BDAF3507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285722" cy="6910719"/>
          </a:xfrm>
          <a:prstGeom prst="rect">
            <a:avLst/>
          </a:prstGeom>
        </p:spPr>
      </p:pic>
      <p:sp>
        <p:nvSpPr>
          <p:cNvPr id="2" name="Title 1">
            <a:extLst>
              <a:ext uri="{FF2B5EF4-FFF2-40B4-BE49-F238E27FC236}">
                <a16:creationId xmlns:a16="http://schemas.microsoft.com/office/drawing/2014/main" id="{8F09E604-A534-8882-609B-5B0878C439B8}"/>
              </a:ext>
            </a:extLst>
          </p:cNvPr>
          <p:cNvSpPr>
            <a:spLocks noGrp="1"/>
          </p:cNvSpPr>
          <p:nvPr>
            <p:ph type="title"/>
          </p:nvPr>
        </p:nvSpPr>
        <p:spPr>
          <a:xfrm>
            <a:off x="4972152" y="0"/>
            <a:ext cx="4565073" cy="894010"/>
          </a:xfrm>
        </p:spPr>
        <p:txBody>
          <a:bodyPr>
            <a:normAutofit/>
          </a:bodyPr>
          <a:lstStyle/>
          <a:p>
            <a:r>
              <a:rPr lang="en-US" sz="2400" b="1" u="sng" dirty="0"/>
              <a:t>EMPATHY MAP</a:t>
            </a:r>
            <a:r>
              <a:rPr lang="en-US" sz="2400" b="1" dirty="0"/>
              <a:t> :-</a:t>
            </a:r>
            <a:endParaRPr lang="en-IN" sz="2400" b="1" u="sng" dirty="0"/>
          </a:p>
        </p:txBody>
      </p:sp>
      <p:pic>
        <p:nvPicPr>
          <p:cNvPr id="5" name="Content Placeholder 4">
            <a:extLst>
              <a:ext uri="{FF2B5EF4-FFF2-40B4-BE49-F238E27FC236}">
                <a16:creationId xmlns:a16="http://schemas.microsoft.com/office/drawing/2014/main" id="{27FC6819-B36E-121B-1019-F14ABEA0A92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753" t="8757"/>
          <a:stretch>
            <a:fillRect/>
          </a:stretch>
        </p:blipFill>
        <p:spPr>
          <a:xfrm>
            <a:off x="3033737" y="1002418"/>
            <a:ext cx="6124525" cy="5476621"/>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472357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DC93AB-2D64-4145-5E82-9D17B30E1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880774C9-CC33-8E23-1B3D-8053CA532EC4}"/>
              </a:ext>
            </a:extLst>
          </p:cNvPr>
          <p:cNvSpPr txBox="1"/>
          <p:nvPr/>
        </p:nvSpPr>
        <p:spPr>
          <a:xfrm>
            <a:off x="475156" y="1261733"/>
            <a:ext cx="11427029" cy="2862322"/>
          </a:xfrm>
          <a:prstGeom prst="rect">
            <a:avLst/>
          </a:prstGeom>
          <a:noFill/>
        </p:spPr>
        <p:txBody>
          <a:bodyPr wrap="square" rtlCol="0">
            <a:spAutoFit/>
          </a:bodyPr>
          <a:lstStyle/>
          <a:p>
            <a:r>
              <a:rPr lang="en-US" dirty="0"/>
              <a:t>• The</a:t>
            </a:r>
            <a:r>
              <a:rPr lang="en-US" b="1" dirty="0"/>
              <a:t> “How Might We”</a:t>
            </a:r>
            <a:r>
              <a:rPr lang="en-US" dirty="0"/>
              <a:t> template in Mural is a design thinking tool used to frame challenges as opportunities for creative problem solving. It helps teams move from identifying problems to asking the right questions that spark innovation.</a:t>
            </a:r>
          </a:p>
          <a:p>
            <a:r>
              <a:rPr lang="en-US" dirty="0"/>
              <a:t> </a:t>
            </a:r>
          </a:p>
          <a:p>
            <a:r>
              <a:rPr lang="en-US" dirty="0"/>
              <a:t>• The Mural “How Might We” template typically contains these main areas:</a:t>
            </a:r>
          </a:p>
          <a:p>
            <a:r>
              <a:rPr lang="en-US" dirty="0"/>
              <a:t>1.Problem or Insight Section: Write the user problem, need, or insight discovered through research or empathy mapping.</a:t>
            </a:r>
          </a:p>
          <a:p>
            <a:r>
              <a:rPr lang="en-US" dirty="0"/>
              <a:t>2.Formulation of HMW Questions: Reframe each problem into one or more “How Might We” questions.</a:t>
            </a:r>
          </a:p>
          <a:p>
            <a:r>
              <a:rPr lang="en-US" dirty="0"/>
              <a:t>3.Clustering or Grouping Area :Group similar HMW questions together under broader themes like Technology, Engagement, Accessibility, etc. This helps focus brainstorming sessions.</a:t>
            </a:r>
          </a:p>
          <a:p>
            <a:r>
              <a:rPr lang="en-US" dirty="0"/>
              <a:t>4.Prioritization Section: Team members can vote or rate which HMW questions have the most potential for impact and feasibility.</a:t>
            </a:r>
          </a:p>
        </p:txBody>
      </p:sp>
      <p:sp>
        <p:nvSpPr>
          <p:cNvPr id="11" name="TextBox 10">
            <a:extLst>
              <a:ext uri="{FF2B5EF4-FFF2-40B4-BE49-F238E27FC236}">
                <a16:creationId xmlns:a16="http://schemas.microsoft.com/office/drawing/2014/main" id="{47EDCD2B-06CB-E4B5-0097-BA4AC7410ECD}"/>
              </a:ext>
            </a:extLst>
          </p:cNvPr>
          <p:cNvSpPr txBox="1"/>
          <p:nvPr/>
        </p:nvSpPr>
        <p:spPr>
          <a:xfrm>
            <a:off x="2813066" y="432128"/>
            <a:ext cx="6349559" cy="707886"/>
          </a:xfrm>
          <a:prstGeom prst="rect">
            <a:avLst/>
          </a:prstGeom>
          <a:noFill/>
        </p:spPr>
        <p:txBody>
          <a:bodyPr wrap="none" rtlCol="0">
            <a:spAutoFit/>
          </a:bodyPr>
          <a:lstStyle/>
          <a:p>
            <a:r>
              <a:rPr lang="en-US" sz="4000" b="1" dirty="0"/>
              <a:t>HOW MIGHT WE QUESTIONS</a:t>
            </a:r>
            <a:endParaRPr lang="en-IN" sz="4000" b="1" dirty="0"/>
          </a:p>
        </p:txBody>
      </p:sp>
      <p:sp>
        <p:nvSpPr>
          <p:cNvPr id="12" name="TextBox 11">
            <a:extLst>
              <a:ext uri="{FF2B5EF4-FFF2-40B4-BE49-F238E27FC236}">
                <a16:creationId xmlns:a16="http://schemas.microsoft.com/office/drawing/2014/main" id="{C44F1D56-7D3A-C0D8-08DA-BAB4C49848D1}"/>
              </a:ext>
            </a:extLst>
          </p:cNvPr>
          <p:cNvSpPr txBox="1"/>
          <p:nvPr/>
        </p:nvSpPr>
        <p:spPr>
          <a:xfrm>
            <a:off x="475156" y="4334078"/>
            <a:ext cx="10498042" cy="1138773"/>
          </a:xfrm>
          <a:prstGeom prst="rect">
            <a:avLst/>
          </a:prstGeom>
          <a:noFill/>
        </p:spPr>
        <p:txBody>
          <a:bodyPr wrap="square" rtlCol="0">
            <a:spAutoFit/>
          </a:bodyPr>
          <a:lstStyle/>
          <a:p>
            <a:r>
              <a:rPr lang="en-US" sz="3200" b="1" dirty="0"/>
              <a:t>Aim:-</a:t>
            </a:r>
            <a:r>
              <a:rPr lang="en-US" dirty="0"/>
              <a:t>To design an intuitive, efficient, and reliable mobile app for booking local service providers (like plumbers, electricians, cleaners, tutors, etc.) that ensures easy discovery, secure payment, and timely service delivery.</a:t>
            </a:r>
            <a:endParaRPr lang="en-IN" dirty="0"/>
          </a:p>
        </p:txBody>
      </p:sp>
    </p:spTree>
    <p:extLst>
      <p:ext uri="{BB962C8B-B14F-4D97-AF65-F5344CB8AC3E}">
        <p14:creationId xmlns:p14="http://schemas.microsoft.com/office/powerpoint/2010/main" val="3979709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D222764-EF19-7CCB-83D3-A46EFBF87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3881"/>
          </a:xfrm>
          <a:prstGeom prst="rect">
            <a:avLst/>
          </a:prstGeom>
        </p:spPr>
      </p:pic>
      <p:sp>
        <p:nvSpPr>
          <p:cNvPr id="6" name="TextBox 5">
            <a:extLst>
              <a:ext uri="{FF2B5EF4-FFF2-40B4-BE49-F238E27FC236}">
                <a16:creationId xmlns:a16="http://schemas.microsoft.com/office/drawing/2014/main" id="{9DE60B16-14CB-0C4C-67A2-C8CB4ABBA111}"/>
              </a:ext>
            </a:extLst>
          </p:cNvPr>
          <p:cNvSpPr txBox="1"/>
          <p:nvPr/>
        </p:nvSpPr>
        <p:spPr>
          <a:xfrm>
            <a:off x="808979" y="426249"/>
            <a:ext cx="10574041" cy="4832092"/>
          </a:xfrm>
          <a:prstGeom prst="rect">
            <a:avLst/>
          </a:prstGeom>
          <a:noFill/>
        </p:spPr>
        <p:txBody>
          <a:bodyPr wrap="square" rtlCol="0">
            <a:spAutoFit/>
          </a:bodyPr>
          <a:lstStyle/>
          <a:p>
            <a:r>
              <a:rPr lang="en-US" sz="2800" b="1" dirty="0"/>
              <a:t>Steps to use How Might We Questions :-</a:t>
            </a:r>
          </a:p>
          <a:p>
            <a:endParaRPr lang="en-US" sz="2800" dirty="0"/>
          </a:p>
          <a:p>
            <a:r>
              <a:rPr lang="en-US" dirty="0"/>
              <a:t>• </a:t>
            </a:r>
            <a:r>
              <a:rPr lang="en-US" b="1" dirty="0"/>
              <a:t>Step 1: </a:t>
            </a:r>
            <a:r>
              <a:rPr lang="en-US" dirty="0"/>
              <a:t>Define the Problem "How might we simplify the process of finding and booking trusted local service providers quickly and affordably? "Users struggle to find reliable local help. Lack of transparent pricing. Delays and cancellations create frustration.</a:t>
            </a:r>
          </a:p>
          <a:p>
            <a:endParaRPr lang="en-US" dirty="0"/>
          </a:p>
          <a:p>
            <a:r>
              <a:rPr lang="en-US" dirty="0"/>
              <a:t>• </a:t>
            </a:r>
            <a:r>
              <a:rPr lang="en-US" b="1" dirty="0"/>
              <a:t>Step</a:t>
            </a:r>
            <a:r>
              <a:rPr lang="en-US" dirty="0"/>
              <a:t> </a:t>
            </a:r>
            <a:r>
              <a:rPr lang="en-US" b="1" dirty="0"/>
              <a:t>2:</a:t>
            </a:r>
            <a:r>
              <a:rPr lang="en-US" dirty="0"/>
              <a:t> Brainstorm Ideas Use sticky notes in Mural to generate ideas under different “How Might We” questions.</a:t>
            </a:r>
          </a:p>
          <a:p>
            <a:endParaRPr lang="en-US" dirty="0"/>
          </a:p>
          <a:p>
            <a:r>
              <a:rPr lang="en-US" dirty="0"/>
              <a:t>• </a:t>
            </a:r>
            <a:r>
              <a:rPr lang="en-US" b="1" dirty="0"/>
              <a:t>Step</a:t>
            </a:r>
            <a:r>
              <a:rPr lang="en-US" dirty="0"/>
              <a:t> </a:t>
            </a:r>
            <a:r>
              <a:rPr lang="en-US" b="1" dirty="0"/>
              <a:t>3:</a:t>
            </a:r>
            <a:r>
              <a:rPr lang="en-US" dirty="0"/>
              <a:t> Cluster Ideas. Group similar ideas into thematic clusters in Mural. Each cluster represents a broader solution area</a:t>
            </a:r>
          </a:p>
          <a:p>
            <a:endParaRPr lang="en-US" dirty="0"/>
          </a:p>
          <a:p>
            <a:r>
              <a:rPr lang="en-US" dirty="0"/>
              <a:t>• </a:t>
            </a:r>
            <a:r>
              <a:rPr lang="en-US" b="1" dirty="0"/>
              <a:t>Step 4:</a:t>
            </a:r>
            <a:r>
              <a:rPr lang="en-US" dirty="0"/>
              <a:t> Prioritization Grid. Now, place all clusters or ideas on the Mural Prioritization Grid, using axes: X-axis: Feasibility (Low → High)Y-axis: Impact (Low → High)</a:t>
            </a:r>
          </a:p>
          <a:p>
            <a:endParaRPr lang="en-US" dirty="0"/>
          </a:p>
          <a:p>
            <a:r>
              <a:rPr lang="en-US" dirty="0"/>
              <a:t>• </a:t>
            </a:r>
            <a:r>
              <a:rPr lang="en-US" b="1" dirty="0"/>
              <a:t>Step 5:</a:t>
            </a:r>
            <a:r>
              <a:rPr lang="en-US" dirty="0"/>
              <a:t> Final Solution Concept. Based on the prioritized ideas, create a solution outline.</a:t>
            </a:r>
            <a:endParaRPr lang="en-IN" dirty="0"/>
          </a:p>
        </p:txBody>
      </p:sp>
    </p:spTree>
    <p:extLst>
      <p:ext uri="{BB962C8B-B14F-4D97-AF65-F5344CB8AC3E}">
        <p14:creationId xmlns:p14="http://schemas.microsoft.com/office/powerpoint/2010/main" val="352956838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D8B274-5328-AD32-79CE-E26C59B49A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583" y="621867"/>
            <a:ext cx="1756717" cy="5418667"/>
          </a:xfrm>
          <a:prstGeom prst="rect">
            <a:avLst/>
          </a:prstGeom>
          <a:ln w="88900" cap="sq" cmpd="thickThin">
            <a:solidFill>
              <a:srgbClr val="000000"/>
            </a:solidFill>
            <a:prstDash val="solid"/>
            <a:miter lim="800000"/>
          </a:ln>
          <a:effectLst>
            <a:innerShdw blurRad="76200">
              <a:srgbClr val="000000"/>
            </a:innerShdw>
          </a:effectLst>
        </p:spPr>
      </p:pic>
      <p:pic>
        <p:nvPicPr>
          <p:cNvPr id="5" name="Picture 4">
            <a:extLst>
              <a:ext uri="{FF2B5EF4-FFF2-40B4-BE49-F238E27FC236}">
                <a16:creationId xmlns:a16="http://schemas.microsoft.com/office/drawing/2014/main" id="{6338F9A3-BF17-BD4D-51A5-C3AA1E1E1D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2425" y="621867"/>
            <a:ext cx="3200400" cy="5418667"/>
          </a:xfrm>
          <a:prstGeom prst="rect">
            <a:avLst/>
          </a:prstGeom>
          <a:ln w="88900" cap="sq" cmpd="thickThin">
            <a:solidFill>
              <a:srgbClr val="000000"/>
            </a:solidFill>
            <a:prstDash val="solid"/>
            <a:miter lim="800000"/>
          </a:ln>
          <a:effectLst>
            <a:innerShdw blurRad="76200">
              <a:srgbClr val="000000"/>
            </a:innerShdw>
          </a:effectLst>
        </p:spPr>
      </p:pic>
      <p:pic>
        <p:nvPicPr>
          <p:cNvPr id="6" name="Picture 5">
            <a:extLst>
              <a:ext uri="{FF2B5EF4-FFF2-40B4-BE49-F238E27FC236}">
                <a16:creationId xmlns:a16="http://schemas.microsoft.com/office/drawing/2014/main" id="{36BAEC08-C70B-260F-596D-FA3A8500F1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4950" y="621868"/>
            <a:ext cx="3183467" cy="541866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97266833"/>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0B9E08-2C22-985A-27A8-C671551B7E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3883" y="223099"/>
            <a:ext cx="6185646" cy="6411801"/>
          </a:xfrm>
          <a:prstGeom prst="rect">
            <a:avLst/>
          </a:prstGeom>
          <a:ln w="88900" cap="sq" cmpd="thickThin">
            <a:solidFill>
              <a:srgbClr val="000000"/>
            </a:solidFill>
            <a:prstDash val="solid"/>
            <a:miter lim="800000"/>
          </a:ln>
          <a:effectLst>
            <a:innerShdw blurRad="76200">
              <a:srgbClr val="000000"/>
            </a:innerShdw>
          </a:effectLst>
        </p:spPr>
      </p:pic>
      <p:pic>
        <p:nvPicPr>
          <p:cNvPr id="5" name="Picture 4">
            <a:extLst>
              <a:ext uri="{FF2B5EF4-FFF2-40B4-BE49-F238E27FC236}">
                <a16:creationId xmlns:a16="http://schemas.microsoft.com/office/drawing/2014/main" id="{72ED6B73-B643-D83A-393B-256B725A0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169074" cy="4109051"/>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7" name="Picture 6">
            <a:extLst>
              <a:ext uri="{FF2B5EF4-FFF2-40B4-BE49-F238E27FC236}">
                <a16:creationId xmlns:a16="http://schemas.microsoft.com/office/drawing/2014/main" id="{D93D48A8-FE0E-92B7-4678-E13EA5922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2926" y="2748949"/>
            <a:ext cx="2169074" cy="4109051"/>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817662269"/>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6DC69D-768E-4BA7-642A-47F6956AFB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678" y="1363043"/>
            <a:ext cx="11174643" cy="4131913"/>
          </a:xfrm>
          <a:prstGeom prst="rect">
            <a:avLst/>
          </a:prstGeom>
          <a:ln w="88900" cap="sq" cmpd="thickThin">
            <a:solidFill>
              <a:srgbClr val="000000"/>
            </a:solidFill>
            <a:prstDash val="solid"/>
            <a:miter lim="800000"/>
          </a:ln>
          <a:effectLst>
            <a:innerShdw blurRad="76200">
              <a:srgbClr val="000000"/>
            </a:innerShdw>
          </a:effectLst>
        </p:spPr>
      </p:pic>
      <p:sp>
        <p:nvSpPr>
          <p:cNvPr id="5" name="TextBox 4">
            <a:extLst>
              <a:ext uri="{FF2B5EF4-FFF2-40B4-BE49-F238E27FC236}">
                <a16:creationId xmlns:a16="http://schemas.microsoft.com/office/drawing/2014/main" id="{56D19088-D036-B798-2691-DEF13A2F29E4}"/>
              </a:ext>
            </a:extLst>
          </p:cNvPr>
          <p:cNvSpPr txBox="1"/>
          <p:nvPr/>
        </p:nvSpPr>
        <p:spPr>
          <a:xfrm>
            <a:off x="508678" y="583115"/>
            <a:ext cx="7852948" cy="400110"/>
          </a:xfrm>
          <a:prstGeom prst="rect">
            <a:avLst/>
          </a:prstGeom>
          <a:noFill/>
        </p:spPr>
        <p:txBody>
          <a:bodyPr wrap="square" rtlCol="0">
            <a:spAutoFit/>
          </a:bodyPr>
          <a:lstStyle/>
          <a:p>
            <a:pPr algn="l"/>
            <a:r>
              <a:rPr lang="en-US" sz="2000" b="1" u="sng" dirty="0"/>
              <a:t>FULL VIEW OF BRAINSTORM AND IDEA PRIORTIZATION TEMPLATE </a:t>
            </a:r>
            <a:r>
              <a:rPr lang="en-US" sz="2000" b="1" dirty="0"/>
              <a:t>:-</a:t>
            </a:r>
            <a:endParaRPr lang="en-US" sz="2000" b="1" u="sng" dirty="0"/>
          </a:p>
        </p:txBody>
      </p:sp>
    </p:spTree>
    <p:extLst>
      <p:ext uri="{BB962C8B-B14F-4D97-AF65-F5344CB8AC3E}">
        <p14:creationId xmlns:p14="http://schemas.microsoft.com/office/powerpoint/2010/main" val="263552056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BEDE168C-E360-21C6-6035-081382D3AB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3740B819-3463-1BD4-2D52-568BEF4CF81D}"/>
              </a:ext>
            </a:extLst>
          </p:cNvPr>
          <p:cNvSpPr txBox="1"/>
          <p:nvPr/>
        </p:nvSpPr>
        <p:spPr>
          <a:xfrm>
            <a:off x="3614700" y="280279"/>
            <a:ext cx="3903633" cy="707886"/>
          </a:xfrm>
          <a:prstGeom prst="rect">
            <a:avLst/>
          </a:prstGeom>
          <a:noFill/>
        </p:spPr>
        <p:txBody>
          <a:bodyPr wrap="none" rtlCol="0">
            <a:spAutoFit/>
          </a:bodyPr>
          <a:lstStyle/>
          <a:p>
            <a:r>
              <a:rPr lang="en-US" sz="4000" b="1" dirty="0"/>
              <a:t>STORYBOARDING</a:t>
            </a:r>
            <a:endParaRPr lang="en-IN" sz="4000" b="1" dirty="0"/>
          </a:p>
        </p:txBody>
      </p:sp>
      <p:sp>
        <p:nvSpPr>
          <p:cNvPr id="7" name="TextBox 6">
            <a:extLst>
              <a:ext uri="{FF2B5EF4-FFF2-40B4-BE49-F238E27FC236}">
                <a16:creationId xmlns:a16="http://schemas.microsoft.com/office/drawing/2014/main" id="{0CDF6700-ABB3-FD58-3129-3E7F7DF1907A}"/>
              </a:ext>
            </a:extLst>
          </p:cNvPr>
          <p:cNvSpPr txBox="1"/>
          <p:nvPr/>
        </p:nvSpPr>
        <p:spPr>
          <a:xfrm>
            <a:off x="839924" y="1268443"/>
            <a:ext cx="9453187" cy="1938992"/>
          </a:xfrm>
          <a:prstGeom prst="rect">
            <a:avLst/>
          </a:prstGeom>
          <a:noFill/>
        </p:spPr>
        <p:txBody>
          <a:bodyPr wrap="square" rtlCol="0">
            <a:spAutoFit/>
          </a:bodyPr>
          <a:lstStyle/>
          <a:p>
            <a:r>
              <a:rPr lang="en-US" sz="2000" dirty="0"/>
              <a:t>• A </a:t>
            </a:r>
            <a:r>
              <a:rPr lang="en-US" sz="2000" b="1" dirty="0"/>
              <a:t>storyboarding</a:t>
            </a:r>
            <a:r>
              <a:rPr lang="en-US" sz="2000" dirty="0"/>
              <a:t> template in Mural is a digital canvas with structured frames (or panels) that help you illustrate each step of a process or story visually. Each panel represents a moment, action, or interaction in a sequence. You can use text boxes, sticky notes, icons, sketches, or images to fill each frame — showing what happens, what the user feels, and what problems or opportunities appear.</a:t>
            </a:r>
          </a:p>
          <a:p>
            <a:endParaRPr lang="en-IN" sz="2000" dirty="0"/>
          </a:p>
        </p:txBody>
      </p:sp>
      <p:sp>
        <p:nvSpPr>
          <p:cNvPr id="8" name="TextBox 7">
            <a:extLst>
              <a:ext uri="{FF2B5EF4-FFF2-40B4-BE49-F238E27FC236}">
                <a16:creationId xmlns:a16="http://schemas.microsoft.com/office/drawing/2014/main" id="{F2EDF416-F72F-D268-2DF6-E4450824C1EF}"/>
              </a:ext>
            </a:extLst>
          </p:cNvPr>
          <p:cNvSpPr txBox="1"/>
          <p:nvPr/>
        </p:nvSpPr>
        <p:spPr>
          <a:xfrm>
            <a:off x="839924" y="3167226"/>
            <a:ext cx="10308909" cy="2554545"/>
          </a:xfrm>
          <a:prstGeom prst="rect">
            <a:avLst/>
          </a:prstGeom>
          <a:noFill/>
        </p:spPr>
        <p:txBody>
          <a:bodyPr wrap="square" rtlCol="0">
            <a:spAutoFit/>
          </a:bodyPr>
          <a:lstStyle/>
          <a:p>
            <a:r>
              <a:rPr lang="en-US" sz="2000" b="1" dirty="0"/>
              <a:t>• Aim:-</a:t>
            </a:r>
            <a:r>
              <a:rPr lang="en-US" sz="2000" dirty="0"/>
              <a:t>To develop an easy-to-use mobile app that allows users to book local service providers (e.g., electricians, plumbers, beauticians, tutors, cleaners, etc.) efficiently, ensuring trust, convenience, affordability, and quick access to verified professionals nearby.</a:t>
            </a:r>
          </a:p>
          <a:p>
            <a:endParaRPr lang="en-US" sz="2000" b="1" dirty="0"/>
          </a:p>
          <a:p>
            <a:endParaRPr lang="en-US" sz="2000" b="1" dirty="0"/>
          </a:p>
          <a:p>
            <a:r>
              <a:rPr lang="en-US" sz="2000" b="1" dirty="0"/>
              <a:t>• Storyboarding Steps (for Mural Template):-</a:t>
            </a:r>
          </a:p>
          <a:p>
            <a:r>
              <a:rPr lang="en-US" sz="2000" dirty="0"/>
              <a:t>You can organize your storyboard in Mural using 6–8 frames or panels, each representing a step in the user journey.</a:t>
            </a:r>
            <a:endParaRPr lang="en-IN" sz="2000" dirty="0"/>
          </a:p>
        </p:txBody>
      </p:sp>
    </p:spTree>
    <p:extLst>
      <p:ext uri="{BB962C8B-B14F-4D97-AF65-F5344CB8AC3E}">
        <p14:creationId xmlns:p14="http://schemas.microsoft.com/office/powerpoint/2010/main" val="3086222868"/>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B5031-5C27-608C-B2BF-EE8F6C721D3A}"/>
              </a:ext>
            </a:extLst>
          </p:cNvPr>
          <p:cNvSpPr>
            <a:spLocks noGrp="1"/>
          </p:cNvSpPr>
          <p:nvPr>
            <p:ph type="title"/>
          </p:nvPr>
        </p:nvSpPr>
        <p:spPr/>
        <p:txBody>
          <a:bodyPr/>
          <a:lstStyle/>
          <a:p>
            <a:endParaRPr lang="en-IN"/>
          </a:p>
        </p:txBody>
      </p:sp>
      <p:pic>
        <p:nvPicPr>
          <p:cNvPr id="3" name="Picture 2">
            <a:extLst>
              <a:ext uri="{FF2B5EF4-FFF2-40B4-BE49-F238E27FC236}">
                <a16:creationId xmlns:a16="http://schemas.microsoft.com/office/drawing/2014/main" id="{5F514CD3-3D8A-F75C-01F1-9327D3E417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pic>
        <p:nvPicPr>
          <p:cNvPr id="7" name="Picture 6">
            <a:extLst>
              <a:ext uri="{FF2B5EF4-FFF2-40B4-BE49-F238E27FC236}">
                <a16:creationId xmlns:a16="http://schemas.microsoft.com/office/drawing/2014/main" id="{95747527-EDF7-8056-1B9A-883C08BB6E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9620" y="1027906"/>
            <a:ext cx="9152760" cy="5165698"/>
          </a:xfrm>
          <a:prstGeom prst="rect">
            <a:avLst/>
          </a:prstGeom>
          <a:ln w="444500" cap="sq" cmpd="thickThin">
            <a:solidFill>
              <a:srgbClr val="000000"/>
            </a:solidFill>
            <a:prstDash val="solid"/>
            <a:miter lim="800000"/>
          </a:ln>
          <a:effectLst>
            <a:innerShdw blurRad="76200">
              <a:srgbClr val="000000"/>
            </a:innerShdw>
          </a:effectLst>
        </p:spPr>
      </p:pic>
      <p:sp>
        <p:nvSpPr>
          <p:cNvPr id="8" name="TextBox 7">
            <a:extLst>
              <a:ext uri="{FF2B5EF4-FFF2-40B4-BE49-F238E27FC236}">
                <a16:creationId xmlns:a16="http://schemas.microsoft.com/office/drawing/2014/main" id="{92D03B37-B23C-2E3E-D8DE-48EE23E5DEC3}"/>
              </a:ext>
            </a:extLst>
          </p:cNvPr>
          <p:cNvSpPr txBox="1"/>
          <p:nvPr/>
        </p:nvSpPr>
        <p:spPr>
          <a:xfrm>
            <a:off x="1320256" y="142518"/>
            <a:ext cx="2310449" cy="369332"/>
          </a:xfrm>
          <a:prstGeom prst="rect">
            <a:avLst/>
          </a:prstGeom>
          <a:noFill/>
        </p:spPr>
        <p:txBody>
          <a:bodyPr wrap="square" rtlCol="0">
            <a:spAutoFit/>
          </a:bodyPr>
          <a:lstStyle/>
          <a:p>
            <a:pPr algn="l"/>
            <a:r>
              <a:rPr lang="en-US" b="1" dirty="0"/>
              <a:t>STORYBOARDING:-</a:t>
            </a:r>
          </a:p>
        </p:txBody>
      </p:sp>
    </p:spTree>
    <p:extLst>
      <p:ext uri="{BB962C8B-B14F-4D97-AF65-F5344CB8AC3E}">
        <p14:creationId xmlns:p14="http://schemas.microsoft.com/office/powerpoint/2010/main" val="4072883967"/>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09F9AE-E873-C51F-9B04-17B74AF1B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3020"/>
          </a:xfrm>
          <a:prstGeom prst="rect">
            <a:avLst/>
          </a:prstGeom>
        </p:spPr>
      </p:pic>
    </p:spTree>
    <p:extLst>
      <p:ext uri="{BB962C8B-B14F-4D97-AF65-F5344CB8AC3E}">
        <p14:creationId xmlns:p14="http://schemas.microsoft.com/office/powerpoint/2010/main" val="2228869872"/>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1037</Words>
  <Application>Microsoft Office PowerPoint</Application>
  <PresentationFormat>Widescreen</PresentationFormat>
  <Paragraphs>59</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EMPATHY MAP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 Milan Singh</dc:creator>
  <cp:lastModifiedBy>mansikaithwas2@gmail.com</cp:lastModifiedBy>
  <cp:revision>6</cp:revision>
  <dcterms:created xsi:type="dcterms:W3CDTF">2025-11-02T16:14:55Z</dcterms:created>
  <dcterms:modified xsi:type="dcterms:W3CDTF">2025-12-01T04:15:01Z</dcterms:modified>
</cp:coreProperties>
</file>